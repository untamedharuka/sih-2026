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F3864"/>
                </a:solidFill>
              </a:rPr>
              <a:t>Sample Trainee Safety-Training Dashboard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Trainee Score (%)</c:v>
                </c:pt>
              </c:strCache>
            </c:strRef>
          </c:tx>
          <c:spPr>
            <a:solidFill>
              <a:srgbClr val="0070C0"/>
            </a:solidFill>
          </c:spPr>
          <c:cat>
            <c:strRef>
              <c:f>Sheet1!$A$2:$A$6</c:f>
              <c:strCache>
                <c:ptCount val="5"/>
                <c:pt idx="0">
                  <c:v>PPE
Compliance</c:v>
                </c:pt>
                <c:pt idx="1">
                  <c:v>Hazard
Detection</c:v>
                </c:pt>
                <c:pt idx="2">
                  <c:v>Emergency
Response</c:v>
                </c:pt>
                <c:pt idx="3">
                  <c:v>Decision
Making</c:v>
                </c:pt>
                <c:pt idx="4">
                  <c:v>Overall
Safety Score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</c:v>
                </c:pt>
                <c:pt idx="1">
                  <c:v>84</c:v>
                </c:pt>
                <c:pt idx="2">
                  <c:v>76</c:v>
                </c:pt>
                <c:pt idx="3">
                  <c:v>89</c:v>
                </c:pt>
                <c:pt idx="4">
                  <c:v>85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 b="1">
                  <a:solidFill>
                    <a:srgbClr val="1F386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0B0B0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Readiness</c:v>
                </c:pt>
              </c:strCache>
            </c:strRef>
          </c:tx>
          <c:dPt>
            <c:idx val="0"/>
            <c:spPr>
              <a:solidFill>
                <a:srgbClr val="0070C0"/>
              </a:solidFill>
            </c:spPr>
          </c:dPt>
          <c:dPt>
            <c:idx val="1"/>
            <c:spPr>
              <a:solidFill>
                <a:srgbClr val="DDEBF7"/>
              </a:solidFill>
            </c:spPr>
          </c:dPt>
          <c:cat>
            <c:strRef>
              <c:f>Sheet1!$A$2:$A$3</c:f>
              <c:strCache>
                <c:ptCount val="2"/>
                <c:pt idx="0">
                  <c:v>Pilot-ready</c:v>
                </c:pt>
                <c:pt idx="1">
                  <c:v>Needs onboarding support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</c:v>
                </c:pt>
                <c:pt idx="1">
                  <c:v>28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9300000" cy="2076450"/>
          </a:xfrm>
        </p:spPr>
        <p:txBody>
          <a:bodyPr/>
          <a:lstStyle/>
          <a:p>
            <a:r>
              <a:rPr lang="en-US" sz="32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32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26041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AR-Based Vocational Training Simulator for Industrial Safety in Jharkhand's Mining &amp; Manufacturing Sector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Blockchain &amp; Cybersecurity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 [Your Team ID]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– TechDivas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550000"/>
            <a:ext cx="7150000" cy="315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6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SurakshaAR – Unity Safety Simulator with an AR Field Guide</a:t>
            </a:r>
            <a:endParaRPr lang="en-US" sz="26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Gamified Unity simulator drops trainees into realistic mine &amp; factory scenes to spot hazards and practice PPE compliance and emergency response, paired with an AR module that overlays live safety guidance on real equipment.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Consequence-based branching and a trainee dashboard replace passive manuals and one-off toolbox talks.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A full Learn → Simulate → Practice → Assess loop — a cycle no current mine-training tool offers.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5500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300"/>
              <a:t>TechDivas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Oval 15362"/>
          <p:cNvSpPr/>
          <p:nvPr/>
        </p:nvSpPr>
        <p:spPr>
          <a:xfrm>
            <a:off x="1860804" y="4619180"/>
            <a:ext cx="777240" cy="777240"/>
          </a:xfrm>
          <a:prstGeom prst="ellipse">
            <a:avLst/>
          </a:prstGeom>
          <a:solidFill>
            <a:srgbClr val="DDEBF7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64" name="Picture 15363" descr="un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5396" y="4783772"/>
            <a:ext cx="448056" cy="448056"/>
          </a:xfrm>
          <a:prstGeom prst="rect">
            <a:avLst/>
          </a:prstGeom>
        </p:spPr>
      </p:pic>
      <p:sp>
        <p:nvSpPr>
          <p:cNvPr id="15365" name="TextBox 15364"/>
          <p:cNvSpPr txBox="1"/>
          <p:nvPr/>
        </p:nvSpPr>
        <p:spPr>
          <a:xfrm>
            <a:off x="685800" y="5442140"/>
            <a:ext cx="31272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864"/>
                </a:solidFill>
                <a:latin typeface="Calibri"/>
              </a:rPr>
              <a:t>Unity 3D
Simulator</a:t>
            </a:r>
          </a:p>
        </p:txBody>
      </p:sp>
      <p:sp>
        <p:nvSpPr>
          <p:cNvPr id="15366" name="Oval 15365"/>
          <p:cNvSpPr/>
          <p:nvPr/>
        </p:nvSpPr>
        <p:spPr>
          <a:xfrm>
            <a:off x="4988052" y="4619180"/>
            <a:ext cx="777240" cy="777240"/>
          </a:xfrm>
          <a:prstGeom prst="ellipse">
            <a:avLst/>
          </a:prstGeom>
          <a:solidFill>
            <a:srgbClr val="DDEBF7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67" name="Picture 15366" descr="came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2644" y="4783772"/>
            <a:ext cx="448056" cy="448056"/>
          </a:xfrm>
          <a:prstGeom prst="rect">
            <a:avLst/>
          </a:prstGeom>
        </p:spPr>
      </p:pic>
      <p:sp>
        <p:nvSpPr>
          <p:cNvPr id="15368" name="TextBox 15367"/>
          <p:cNvSpPr txBox="1"/>
          <p:nvPr/>
        </p:nvSpPr>
        <p:spPr>
          <a:xfrm>
            <a:off x="3813048" y="5442140"/>
            <a:ext cx="31272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864"/>
                </a:solidFill>
                <a:latin typeface="Calibri"/>
              </a:rPr>
              <a:t>AR Field
Guide</a:t>
            </a:r>
          </a:p>
        </p:txBody>
      </p:sp>
      <p:sp>
        <p:nvSpPr>
          <p:cNvPr id="15369" name="Oval 15368"/>
          <p:cNvSpPr/>
          <p:nvPr/>
        </p:nvSpPr>
        <p:spPr>
          <a:xfrm>
            <a:off x="8115300" y="4619180"/>
            <a:ext cx="777240" cy="777240"/>
          </a:xfrm>
          <a:prstGeom prst="ellipse">
            <a:avLst/>
          </a:prstGeom>
          <a:solidFill>
            <a:srgbClr val="DDEBF7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70" name="Picture 15369" descr="troph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9892" y="4783772"/>
            <a:ext cx="448056" cy="448056"/>
          </a:xfrm>
          <a:prstGeom prst="rect">
            <a:avLst/>
          </a:prstGeom>
        </p:spPr>
      </p:pic>
      <p:sp>
        <p:nvSpPr>
          <p:cNvPr id="15371" name="TextBox 15370"/>
          <p:cNvSpPr txBox="1"/>
          <p:nvPr/>
        </p:nvSpPr>
        <p:spPr>
          <a:xfrm>
            <a:off x="6940296" y="5442140"/>
            <a:ext cx="31272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864"/>
                </a:solidFill>
                <a:latin typeface="Calibri"/>
              </a:rPr>
              <a:t>Learn – Practice
– Assess</a:t>
            </a:r>
          </a:p>
        </p:txBody>
      </p:sp>
      <p:pic>
        <p:nvPicPr>
          <p:cNvPr id="15372" name="Picture 15371" descr="layers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0000" y="1700000"/>
            <a:ext cx="500000" cy="500000"/>
          </a:xfrm>
          <a:prstGeom prst="rect">
            <a:avLst/>
          </a:prstGeom>
        </p:spPr>
      </p:pic>
      <p:sp>
        <p:nvSpPr>
          <p:cNvPr id="15373" name="Rectangle 15372"/>
          <p:cNvSpPr/>
          <p:nvPr/>
        </p:nvSpPr>
        <p:spPr>
          <a:xfrm>
            <a:off x="7550000" y="2350000"/>
            <a:ext cx="4300000" cy="2000000"/>
          </a:xfrm>
          <a:prstGeom prst="rect">
            <a:avLst/>
          </a:prstGeom>
          <a:solidFill>
            <a:srgbClr val="DDEBF7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rIns="200000" tIns="150000"/>
          <a:lstStyle/>
          <a:p>
            <a:pPr algn="ctr">
              <a:defRPr b="1" sz="1500">
                <a:solidFill>
                  <a:srgbClr val="1F3864"/>
                </a:solidFill>
              </a:defRPr>
            </a:pPr>
            <a:r>
              <a:t>Why it's different</a:t>
            </a:r>
          </a:p>
          <a:p>
            <a:pPr algn="ctr">
              <a:defRPr sz="1250">
                <a:solidFill>
                  <a:srgbClr val="333333"/>
                </a:solidFill>
              </a:defRPr>
            </a:pPr>
            <a:r>
              <a:t>Unity safely recreates hazards too dangerous to stage live — gas leaks, electrical faults, rockfalls — then AR bridges classroom learning straight to the real mine floor.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500000"/>
            <a:ext cx="9385300" cy="26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Unity (C#) 3D mining &amp; manufacturing simulator; AR Foundation for phone-based AR; Blender equipment models; Bhashini API for vernacular voice; optional Firebase/Supabase backend.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Build Unity mining &amp; factory environments with hazard, PPE and evacuation scenarios.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Implement Training Mode (hazard → cause → procedure → practice) and Assessment Mode (scored MCQs with branching).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Add the AR module for real-world PPE &amp; hazard overlays.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Pilot with training centres in Jharkhand and refine using analytics.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5500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300"/>
              <a:t>TechDivas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85800" y="4292040"/>
            <a:ext cx="4480560" cy="502920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UNITY SIMULATOR
(Mining + Factory Scenes)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440680" y="4292040"/>
            <a:ext cx="4480560" cy="502920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AR MODULE
(PPE + Hazard Overlay)</a:t>
            </a:r>
          </a:p>
        </p:txBody>
      </p:sp>
      <p:sp>
        <p:nvSpPr>
          <p:cNvPr id="17413" name="Right Arrow 17412"/>
          <p:cNvSpPr/>
          <p:nvPr/>
        </p:nvSpPr>
        <p:spPr>
          <a:xfrm rot="5400000">
            <a:off x="2788920" y="4822392"/>
            <a:ext cx="274320" cy="201168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ight Arrow 17413"/>
          <p:cNvSpPr/>
          <p:nvPr/>
        </p:nvSpPr>
        <p:spPr>
          <a:xfrm rot="5400000">
            <a:off x="7543800" y="4822392"/>
            <a:ext cx="274320" cy="201168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685800" y="5069280"/>
            <a:ext cx="9381744" cy="502920"/>
          </a:xfrm>
          <a:prstGeom prst="roundRect">
            <a:avLst/>
          </a:prstGeom>
          <a:solidFill>
            <a:srgbClr val="0070C0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SCENARIO ENGINE  →  ASSESSMENT ENGINE  →  SCORING  →  TRAINEE ANALYTICS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500000"/>
            <a:ext cx="75500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Runs on standard PCs/Android phones already at training centres — no VR headset capex; Unity + AR Foundation are mature, well-documented tools.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Low digital literacy among first-time tribal recruits; variable AR camera quality on low-end phones.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Strategies: </a:t>
            </a:r>
            <a:r>
              <a:rPr kumimoji="0" lang="en-US" sz="16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buddy-based, voice-guided onboarding; 2D fallback mode for poor camera quality; partner with DGMS/Ministry of Coal for a pilot mandate.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5500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300"/>
              <a:t>TechDivas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Oval 17410"/>
          <p:cNvSpPr/>
          <p:nvPr/>
        </p:nvSpPr>
        <p:spPr>
          <a:xfrm>
            <a:off x="1929384" y="4779200"/>
            <a:ext cx="640080" cy="640080"/>
          </a:xfrm>
          <a:prstGeom prst="ellipse">
            <a:avLst/>
          </a:prstGeom>
          <a:solidFill>
            <a:srgbClr val="DDEBF7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2" name="Picture 17411" descr="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3976" y="4943792"/>
            <a:ext cx="310896" cy="310896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685800" y="5465000"/>
            <a:ext cx="31272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864"/>
                </a:solidFill>
                <a:latin typeface="Calibri"/>
              </a:rPr>
              <a:t>Low-Capex:
Runs on Existing Devices</a:t>
            </a:r>
          </a:p>
        </p:txBody>
      </p:sp>
      <p:sp>
        <p:nvSpPr>
          <p:cNvPr id="17414" name="Oval 17413"/>
          <p:cNvSpPr/>
          <p:nvPr/>
        </p:nvSpPr>
        <p:spPr>
          <a:xfrm>
            <a:off x="5056632" y="4779200"/>
            <a:ext cx="640080" cy="640080"/>
          </a:xfrm>
          <a:prstGeom prst="ellipse">
            <a:avLst/>
          </a:prstGeom>
          <a:solidFill>
            <a:srgbClr val="DDEBF7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5" name="Picture 17414" descr="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1224" y="4943792"/>
            <a:ext cx="310896" cy="310896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3813048" y="5465000"/>
            <a:ext cx="31272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864"/>
                </a:solidFill>
                <a:latin typeface="Calibri"/>
              </a:rPr>
              <a:t>Tribal-Friendly
Onboarding</a:t>
            </a:r>
          </a:p>
        </p:txBody>
      </p:sp>
      <p:sp>
        <p:nvSpPr>
          <p:cNvPr id="17417" name="Oval 17416"/>
          <p:cNvSpPr/>
          <p:nvPr/>
        </p:nvSpPr>
        <p:spPr>
          <a:xfrm>
            <a:off x="8183880" y="4779200"/>
            <a:ext cx="640080" cy="640080"/>
          </a:xfrm>
          <a:prstGeom prst="ellipse">
            <a:avLst/>
          </a:prstGeom>
          <a:solidFill>
            <a:srgbClr val="DDEBF7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8" name="Picture 17417" descr="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8472" y="4943792"/>
            <a:ext cx="310896" cy="310896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6940296" y="5465000"/>
            <a:ext cx="31272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864"/>
                </a:solidFill>
                <a:latin typeface="Calibri"/>
              </a:rPr>
              <a:t>Phased,
Modular Rollout</a:t>
            </a:r>
          </a:p>
        </p:txBody>
      </p:sp>
      <p:graphicFrame>
        <p:nvGraphicFramePr>
          <p:cNvPr id="17420" name="Chart 17419"/>
          <p:cNvGraphicFramePr>
            <a:graphicFrameLocks noGrp="1"/>
          </p:cNvGraphicFramePr>
          <p:nvPr/>
        </p:nvGraphicFramePr>
        <p:xfrm>
          <a:off x="8450000" y="1500000"/>
          <a:ext cx="3400000" cy="25000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17421" name="TextBox 17420"/>
          <p:cNvSpPr txBox="1"/>
          <p:nvPr/>
        </p:nvSpPr>
        <p:spPr>
          <a:xfrm>
            <a:off x="8450000" y="1250000"/>
            <a:ext cx="34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1F3864"/>
                </a:solidFill>
              </a:defRPr>
            </a:pPr>
            <a:r>
              <a:t>Training-Centre Readiness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500000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Young, first-time tribal recruits get repeatable, self-paced training where they can safely make mistakes and learn from consequences — training centres get an assessment engine and analytics dashboard instead of paper checklists.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Social: fewer accidents against 48 fatalities recorded in 2022-23.  Economic: cuts repeat-training costs vs. physical drills/VR hardware.  Operational: modular content scales statewide.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5500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300"/>
              <a:t>TechDivas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17411" name="Chart 17410"/>
          <p:cNvGraphicFramePr>
            <a:graphicFrameLocks noGrp="1"/>
          </p:cNvGraphicFramePr>
          <p:nvPr/>
        </p:nvGraphicFramePr>
        <p:xfrm>
          <a:off x="822960" y="4350000"/>
          <a:ext cx="9400000" cy="185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412" name="Rectangle 17411"/>
          <p:cNvSpPr/>
          <p:nvPr/>
        </p:nvSpPr>
        <p:spPr>
          <a:xfrm>
            <a:off x="10250000" y="1500000"/>
            <a:ext cx="1750000" cy="290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48</a:t>
            </a:r>
          </a:p>
          <a:p>
            <a:pPr algn="ctr">
              <a:defRPr sz="1100">
                <a:solidFill>
                  <a:srgbClr val="DDEBF7"/>
                </a:solidFill>
              </a:defRPr>
            </a:pPr>
            <a:r>
              <a:t>mining fatalities, Jharkhand, 2022–23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550000"/>
            <a:ext cx="9385300" cy="33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DGMS Dhanbad annual mine accident statistics, 2022-23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Factories Act 1948 &amp; Mines Act 1952 — statutory basis for safety training/certification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Unity AR Foundation documentation — docs.unity3d.com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Bhashini — National Language Translation Mission, bhashini.gov.in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Stanford Medicine study (NCT05674188): AR vs in-person training retention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Journal of Safety Research: simulation training improves hazard-recognition retention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5500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300"/>
              <a:t>TechDivas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layers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00" y="1632500"/>
            <a:ext cx="360000" cy="360000"/>
          </a:xfrm>
          <a:prstGeom prst="rect">
            <a:avLst/>
          </a:prstGeom>
        </p:spPr>
      </p:pic>
      <p:pic>
        <p:nvPicPr>
          <p:cNvPr id="17412" name="Picture 17411" descr="unity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000" y="2732500"/>
            <a:ext cx="360000" cy="360000"/>
          </a:xfrm>
          <a:prstGeom prst="rect">
            <a:avLst/>
          </a:prstGeom>
        </p:spPr>
      </p:pic>
      <p:pic>
        <p:nvPicPr>
          <p:cNvPr id="17413" name="Picture 17412" descr="trophy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000" y="3832500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